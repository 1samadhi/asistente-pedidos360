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Presentarse y decir en una frase qué hace el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A RESPONDER: ¿por qué esto le cuesta dinero a la organización? Hablar de horas de ingeniería y de fricción comercial al adherir comercios.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Leer la última pregunta en voz alta. Es el caso que justifica la arquitectura.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A RESPONDER: ¿por qué RAG y no el modelo respondiendo de memoria? ¿Por qué los embeddings corren en local?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A RESPONDER: ¿qué gana la organización con un agente que decide, frente a un menú de opciones fijo?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A RESPONDER: ¿qué aporta el RFC que no aporte el README?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A RESPONDER: ¿qué decisión tomaría distinto la organización si estas cifras fueran peores?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diapositiva más valiosa: muestra criterio, no solo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Declarar limitaciones no resta: muestra que se entiende dónde falla el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 demostración en vivo si hay tiempo: una pregunta de cada tipo.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6F63"/>
                </a:solidFill>
                <a:latin typeface="Calibri"/>
              </a:rPr>
              <a:t>EVALUACIÓN PARCIAL N°1 · ISY0101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1B2430"/>
                </a:solidFill>
                <a:latin typeface="Calibri"/>
              </a:rPr>
              <a:t>Asistente de integración</a:t>
            </a:r>
          </a:p>
          <a:p>
            <a:pPr algn="l">
              <a:lnSpc>
                <a:spcPct val="105000"/>
              </a:lnSpc>
            </a:pPr>
            <a:r>
              <a:rPr sz="4800" b="1">
                <a:solidFill>
                  <a:srgbClr val="1B2430"/>
                </a:solidFill>
                <a:latin typeface="Calibri"/>
              </a:rPr>
              <a:t>para Pedidos360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B6672"/>
                </a:solidFill>
                <a:latin typeface="Calibri"/>
              </a:rPr>
              <a:t>Una solución con LLM y RAG para el onboarding técnico de comercios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1B2430"/>
                </a:solidFill>
                <a:latin typeface="Calibri"/>
              </a:rPr>
              <a:t>Ismael Oyarzún  ·  Felipe Angel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672"/>
                </a:solidFill>
                <a:latin typeface="Calibri"/>
              </a:rPr>
              <a:t>Ingeniería de Soluciones con IA · Duoc UC · 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B2430"/>
                </a:solidFill>
                <a:latin typeface="Calibri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704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B6672"/>
                </a:solidFill>
                <a:latin typeface="Calibri"/>
              </a:rPr>
              <a:t>Pedidos360 · plataforma B2B de pedidos con autenticación federada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>Cada comercio que se integra necesita que un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>desarrollador entienda: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>·  qué emisor de identidad le corresponde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>·  cómo obtener un token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>·  qué scopes necesita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>·  qué significa cada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920240"/>
            <a:ext cx="4846320" cy="2651760"/>
          </a:xfrm>
          <a:prstGeom prst="rect">
            <a:avLst/>
          </a:prstGeom>
          <a:solidFill>
            <a:srgbClr val="F4F6F5"/>
          </a:solidFill>
          <a:ln w="25400">
            <a:solidFill>
              <a:srgbClr val="B4472B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12280" y="2148840"/>
            <a:ext cx="4480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>Comprobado en producción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>Token válido, emisor correcto,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>scopes correctos: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>GET /v1/pedidos  →  401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B6672"/>
                </a:solidFill>
                <a:latin typeface="Calibri"/>
              </a:rPr>
              <a:t>La respuesta existe, pero repartida entre un README, seis documentos técnicos,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5B6672"/>
                </a:solidFill>
                <a:latin typeface="Calibri"/>
              </a:rPr>
              <a:t>un CHANGELOG, dos colecciones de API y el código fuente.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B2430"/>
                </a:solidFill>
                <a:latin typeface="Calibri"/>
              </a:rPr>
              <a:t>Qué construimos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704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B6672"/>
                </a:solidFill>
                <a:latin typeface="Calibri"/>
              </a:rPr>
              <a:t>Un asistente que responde consultas de integración, citando sus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B2430"/>
                </a:solidFill>
                <a:latin typeface="Calibri"/>
              </a:rPr>
              <a:t>«¿Cómo obtengo un token?»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2139696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F6F63"/>
                </a:solidFill>
                <a:latin typeface="Calibri"/>
              </a:rPr>
              <a:t>documentación propia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B2430"/>
                </a:solidFill>
                <a:latin typeface="Calibri"/>
              </a:rPr>
              <a:t>«¿Qué significa el claim aud?»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3008376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F6F63"/>
                </a:solidFill>
                <a:latin typeface="Calibri"/>
              </a:rPr>
              <a:t>fuente externa · RFC 7519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B2430"/>
                </a:solidFill>
                <a:latin typeface="Calibri"/>
              </a:rPr>
              <a:t>«¿Cuántos pedidos llevo?»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877056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F6F63"/>
                </a:solidFill>
                <a:latin typeface="Calibri"/>
              </a:rPr>
              <a:t>API en vivo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091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B2430"/>
                </a:solidFill>
                <a:latin typeface="Calibri"/>
              </a:rPr>
              <a:t>«¿Cómo lo obtengo por API y cuántos llevo?»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745736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F6F63"/>
                </a:solidFill>
                <a:latin typeface="Calibri"/>
              </a:rPr>
              <a:t>las dos cosas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B6672"/>
                </a:solidFill>
                <a:latin typeface="Calibri"/>
              </a:rPr>
              <a:t>La última es la que obliga a un agente: ninguna herramienta la responde sola.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B2430"/>
                </a:solidFill>
                <a:latin typeface="Calibri"/>
              </a:rPr>
              <a:t>Cómo se responde una pregunta</a:t>
            </a:r>
          </a:p>
        </p:txBody>
      </p:sp>
      <p:pic>
        <p:nvPicPr>
          <p:cNvPr id="3" name="Picture 2" descr="slide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874519"/>
            <a:ext cx="11247120" cy="36904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B2430"/>
                </a:solidFill>
                <a:latin typeface="Calibri"/>
              </a:rPr>
              <a:t>El modelo elige la herramienta</a:t>
            </a:r>
          </a:p>
        </p:txBody>
      </p:sp>
      <p:pic>
        <p:nvPicPr>
          <p:cNvPr id="3" name="Picture 2" descr="slide-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783080"/>
            <a:ext cx="11247120" cy="399799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B2430"/>
                </a:solidFill>
                <a:latin typeface="Calibri"/>
              </a:rPr>
              <a:t>Dos orígenes, etiquetados por separado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704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B6672"/>
                </a:solidFill>
                <a:latin typeface="Calibri"/>
              </a:rPr>
              <a:t>El indicador IE3 pide fuentes internas y externas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6F63"/>
                </a:solidFill>
                <a:latin typeface="Calibri"/>
              </a:rPr>
              <a:t>INTERNO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>10 documentos de Pedidos360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>7.210 palabras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>README, guías técnicas, CHANGELOG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>y una guía de errores que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>escribimos al detectar el vacío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5B6672"/>
                </a:solidFill>
                <a:latin typeface="Calibri"/>
              </a:rPr>
              <a:t>EXTERNO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56032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>RFC 6749 · OAuth 2.0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>RFC 7519 · JWT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>OWASP API Top 10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>~4.100 palabras, acotadas a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1B2430"/>
                </a:solidFill>
                <a:latin typeface="Calibri"/>
              </a:rPr>
              <a:t>las secciones pertinentes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B6672"/>
                </a:solidFill>
                <a:latin typeface="Calibri"/>
              </a:rPr>
              <a:t>Los RFC completos son 29.000 palabras en inglés: incluirlos enteros desbalancea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5B6672"/>
                </a:solidFill>
                <a:latin typeface="Calibri"/>
              </a:rPr>
              <a:t>la recuperación frente a la documentación propia en español.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B2430"/>
                </a:solidFill>
                <a:latin typeface="Calibri"/>
              </a:rPr>
              <a:t>Resultados medidos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704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B6672"/>
                </a:solidFill>
                <a:latin typeface="Calibri"/>
              </a:rPr>
              <a:t>Set de 30 preguntas con fuente esperada y respuesta de referencia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011680"/>
          <a:ext cx="1069848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672"/>
                          </a:solidFill>
                        </a:rPr>
                        <a:t>Estrategia de recuperación</a:t>
                      </a:r>
                    </a:p>
                  </a:txBody>
                  <a:tcPr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672"/>
                          </a:solidFill>
                        </a:rPr>
                        <a:t>Context recall</a:t>
                      </a:r>
                    </a:p>
                  </a:txBody>
                  <a:tcPr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672"/>
                          </a:solidFill>
                        </a:rPr>
                        <a:t>Precisión</a:t>
                      </a:r>
                    </a:p>
                  </a:txBody>
                  <a:tcPr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672"/>
                          </a:solidFill>
                        </a:rPr>
                        <a:t>Sin fuente</a:t>
                      </a:r>
                    </a:p>
                  </a:txBody>
                  <a:tcPr>
                    <a:solidFill>
                      <a:srgbClr val="F4F6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B2430"/>
                          </a:solidFill>
                        </a:rPr>
                        <a:t>Solo semántica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B2430"/>
                          </a:solidFill>
                        </a:rPr>
                        <a:t>0,80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B2430"/>
                          </a:solidFill>
                        </a:rPr>
                        <a:t>0,58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B243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B2430"/>
                          </a:solidFill>
                        </a:rPr>
                        <a:t>Híbrida, pesos iguales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B2430"/>
                          </a:solidFill>
                        </a:rPr>
                        <a:t>0,78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B2430"/>
                          </a:solidFill>
                        </a:rPr>
                        <a:t>0,51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B243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F6F63"/>
                          </a:solidFill>
                        </a:rPr>
                        <a:t>Híbrida 0,8 / 0,2 con tope</a:t>
                      </a:r>
                    </a:p>
                  </a:txBody>
                  <a:tcPr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F6F63"/>
                          </a:solidFill>
                        </a:rPr>
                        <a:t>0,92</a:t>
                      </a:r>
                    </a:p>
                  </a:txBody>
                  <a:tcPr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F6F63"/>
                          </a:solidFill>
                        </a:rPr>
                        <a:t>0,45</a:t>
                      </a:r>
                    </a:p>
                  </a:txBody>
                  <a:tcPr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F6F63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B2430"/>
                </a:solidFill>
                <a:latin typeface="Calibri"/>
              </a:rPr>
              <a:t>Generación, sobre las 30 preguntas:   fidelidad 0,95   ·   relevancia 0,98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B6672"/>
                </a:solidFill>
                <a:latin typeface="Calibri"/>
              </a:rPr>
              <a:t>La precisión se lee contra su techo: con 5 fragmentos y tope de 2 por archivo,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5B6672"/>
                </a:solidFill>
                <a:latin typeface="Calibri"/>
              </a:rPr>
              <a:t>una pregunta con una sola fuente no puede pasar de 2/5. El máximo del set es 0,55.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B2430"/>
                </a:solidFill>
                <a:latin typeface="Calibri"/>
              </a:rPr>
              <a:t>Tres cosas que salieron mal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704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B6672"/>
                </a:solidFill>
                <a:latin typeface="Calibri"/>
              </a:rPr>
              <a:t>Y que solo aparecieron al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F6F63"/>
                </a:solidFill>
                <a:latin typeface="Calibri"/>
              </a:rPr>
              <a:t>Nuestra mejora empeoró 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B2430"/>
                </a:solidFill>
                <a:latin typeface="Calibri"/>
              </a:rPr>
              <a:t>La primera versión híbrida, con pesos iguales, dio precisión 0,35 frente al 0,58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B2430"/>
                </a:solidFill>
                <a:latin typeface="Calibri"/>
              </a:rPr>
              <a:t>de la búsqueda semántica sola.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F6F63"/>
                </a:solidFill>
                <a:latin typeface="Calibri"/>
              </a:rPr>
              <a:t>Una respuesta correcta puede no estar fundamentada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86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B2430"/>
                </a:solidFill>
                <a:latin typeface="Calibri"/>
              </a:rPr>
              <a:t>Tres respuestas acertadas venían de la memoria del modelo, no del contexto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B2430"/>
                </a:solidFill>
                <a:latin typeface="Calibri"/>
              </a:rPr>
              <a:t>recuperado. La métrica de fidelidad las detectó.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46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F6F63"/>
                </a:solidFill>
                <a:latin typeface="Calibri"/>
              </a:rPr>
              <a:t>La recuperación no encuentra lo que no está escrito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B2430"/>
                </a:solidFill>
                <a:latin typeface="Calibri"/>
              </a:rPr>
              <a:t>El fallo del 401 no era del recuperador: la respuesta no existía en el corpus.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B2430"/>
                </a:solidFill>
                <a:latin typeface="Calibri"/>
              </a:rPr>
              <a:t>Limitaciones que declaramos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>·  El set de 30 preguntas lo escribió quien conocía los documentos: comparte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>    vocabulario con ellos más de lo que lo haría un usuario real.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>·  El juez es un modelo de lenguaje. Verificamos que discrimina, pero sigue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>    siendo un modelo evaluando a otro.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>·  Groq no ofrece embeddings, así que usamos un modelo local pequeño. Eso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>    limita la búsqueda semántica y es parte de por qué hizo falta la léxica.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>·  La API depende de un laboratorio académico. El asistente funciona sin ella: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1B2430"/>
                </a:solidFill>
                <a:latin typeface="Calibri"/>
              </a:rPr>
              <a:t>    avisa de que no puede consultar datos en vez de inventarlos.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B2430"/>
                </a:solidFill>
                <a:latin typeface="Calibri"/>
              </a:rPr>
              <a:t>El asistente no modifica Pedidos360: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F6F63"/>
                </a:solidFill>
                <a:latin typeface="Calibri"/>
              </a:rPr>
              <a:t>lo consume como cualquier comercio integrado.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5B6672"/>
                </a:solidFill>
                <a:latin typeface="Calibri"/>
              </a:rPr>
              <a:t>Repositorio, informe, diagramas, evidencia de pruebas y notebook de demostración: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5B6672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5B6672"/>
                </a:solidFill>
                <a:latin typeface="Calibri"/>
              </a:rPr>
              <a:t>github.com/1samadhi/asistente-pedidos360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B2430"/>
                </a:solidFill>
                <a:latin typeface="Calibri"/>
              </a:rPr>
              <a:t>Ismael Oyarzún  ·  Felipe Angel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